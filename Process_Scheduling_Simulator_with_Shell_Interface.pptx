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08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&amp; SYSTEMS PROGRAMMING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SCHEDULING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Shell Interface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0" cy="50292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325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4544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Programming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4343400"/>
            <a:ext cx="0" cy="50292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4325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4544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4343400"/>
            <a:ext cx="0" cy="502920"/>
          </a:xfrm>
          <a:prstGeom prst="line">
            <a:avLst/>
          </a:prstGeom>
          <a:noFill/>
          <a:ln w="12700">
            <a:solidFill>
              <a:srgbClr val="3A4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325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4544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212080"/>
            <a:ext cx="10515600" cy="1234440"/>
          </a:xfrm>
          <a:prstGeom prst="rect">
            <a:avLst>
              <a:gd name="adj" fmla="val 5926"/>
            </a:avLst>
          </a:prstGeom>
          <a:solidFill>
            <a:srgbClr val="1D3150"/>
          </a:solidFill>
          <a:ln w="12700">
            <a:solidFill>
              <a:srgbClr val="2A3B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349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5650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 </a:t>
            </a:r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2510030064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5650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Gyathri. G  </a:t>
            </a:r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6035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Chakrika  </a:t>
            </a:r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6035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Naidu  </a:t>
            </a:r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2510030380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4709160"/>
          </a:xfrm>
          <a:prstGeom prst="rect">
            <a:avLst>
              <a:gd name="adj" fmla="val 1165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2821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636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shell-based process scheduling simulator in 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27685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18541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CPU scheduling works inside an operating system.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2549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73405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multiple CPU scheduling algorithms.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37413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28269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process details directly from the user.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92277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8313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process execution on a virtual CPU.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47141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3799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waiting time and turnaround time for each process.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502005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92861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scheduling results clearly to the user.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5568696"/>
            <a:ext cx="201168" cy="201168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547725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interactive, command-driven shell interface.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26680" y="1417320"/>
            <a:ext cx="3886200" cy="4709160"/>
          </a:xfrm>
          <a:prstGeom prst="rect">
            <a:avLst>
              <a:gd name="adj" fmla="val 1412"/>
            </a:avLst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800100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205740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helps us understand the complete flow of process execution inside an operating system.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01000" y="3429000"/>
            <a:ext cx="3337560" cy="502920"/>
          </a:xfrm>
          <a:prstGeom prst="rect">
            <a:avLst>
              <a:gd name="adj" fmla="val 9091"/>
            </a:avLst>
          </a:prstGeom>
          <a:solidFill>
            <a:srgbClr val="1D3150"/>
          </a:solidFill>
          <a:ln w="12700">
            <a:solidFill>
              <a:srgbClr val="2A3B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34290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Input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01000" y="38862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01000" y="4142232"/>
            <a:ext cx="3337560" cy="502920"/>
          </a:xfrm>
          <a:prstGeom prst="rect">
            <a:avLst>
              <a:gd name="adj" fmla="val 9091"/>
            </a:avLst>
          </a:prstGeom>
          <a:solidFill>
            <a:srgbClr val="1D3150"/>
          </a:solidFill>
          <a:ln w="12700">
            <a:solidFill>
              <a:srgbClr val="2A3B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414223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01000" y="45994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01000" y="4855464"/>
            <a:ext cx="3337560" cy="502920"/>
          </a:xfrm>
          <a:prstGeom prst="rect">
            <a:avLst>
              <a:gd name="adj" fmla="val 9091"/>
            </a:avLst>
          </a:prstGeom>
          <a:solidFill>
            <a:srgbClr val="1D3150"/>
          </a:solidFill>
          <a:ln w="12700">
            <a:solidFill>
              <a:srgbClr val="2A3B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485546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Execution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01000" y="53126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001000" y="5568696"/>
            <a:ext cx="3337560" cy="502920"/>
          </a:xfrm>
          <a:prstGeom prst="rect">
            <a:avLst>
              <a:gd name="adj" fmla="val 9091"/>
            </a:avLst>
          </a:prstGeom>
          <a:solidFill>
            <a:srgbClr val="1D3150"/>
          </a:solidFill>
          <a:ln w="12700">
            <a:solidFill>
              <a:srgbClr val="2A3B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556869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286000"/>
        </p:xfrm>
        <a:graphic>
          <a:graphicData uri="http://schemas.openxmlformats.org/drawingml/2006/table">
            <a:tbl>
              <a:tblPr/>
              <a:tblGrid>
                <a:gridCol w="4937760"/>
                <a:gridCol w="347472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Studied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 Concepts — Silberschatz et al.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fundamentals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Systems: Three Easy Pieces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scheduling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understanding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Linux Programming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&amp; system calls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implementation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Operating Systems — Tanenbaum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concepts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5394960" cy="512064"/>
          </a:xfrm>
          <a:prstGeom prst="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4498848"/>
            <a:ext cx="182880" cy="18288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8" name="Text 5"/>
          <p:cNvSpPr/>
          <p:nvPr/>
        </p:nvSpPr>
        <p:spPr>
          <a:xfrm>
            <a:off x="987552" y="434340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determines which process gets the CPU next.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4343400"/>
            <a:ext cx="5394960" cy="512064"/>
          </a:xfrm>
          <a:prstGeom prst="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4498848"/>
            <a:ext cx="182880" cy="18288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1" name="Text 8"/>
          <p:cNvSpPr/>
          <p:nvPr/>
        </p:nvSpPr>
        <p:spPr>
          <a:xfrm>
            <a:off x="6611112" y="4343400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 provide different performance trade-offs.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965192"/>
            <a:ext cx="5394960" cy="512064"/>
          </a:xfrm>
          <a:prstGeom prst="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5120640"/>
            <a:ext cx="182880" cy="18288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4" name="Text 11"/>
          <p:cNvSpPr/>
          <p:nvPr/>
        </p:nvSpPr>
        <p:spPr>
          <a:xfrm>
            <a:off x="987552" y="496519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and turnaround time are the key performance metrics.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4965192"/>
            <a:ext cx="5394960" cy="512064"/>
          </a:xfrm>
          <a:prstGeom prst="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5120640"/>
            <a:ext cx="182880" cy="18288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7" name="Text 14"/>
          <p:cNvSpPr/>
          <p:nvPr/>
        </p:nvSpPr>
        <p:spPr>
          <a:xfrm>
            <a:off x="6611112" y="4965192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scheduling allows CPU switching between processes.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586984"/>
            <a:ext cx="5394960" cy="512064"/>
          </a:xfrm>
          <a:prstGeom prst="rect">
            <a:avLst>
              <a:gd name="adj" fmla="val 892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5742432"/>
            <a:ext cx="182880" cy="18288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0" name="Text 17"/>
          <p:cNvSpPr/>
          <p:nvPr/>
        </p:nvSpPr>
        <p:spPr>
          <a:xfrm>
            <a:off x="987552" y="5586984"/>
            <a:ext cx="4846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algorithms can be simulated without modifying the actual OS.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3520440"/>
          </a:xfrm>
          <a:prstGeom prst="rect">
            <a:avLst>
              <a:gd name="adj" fmla="val 1558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— ACTUAL 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OS kernel scheduler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kernel-level implementation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181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11810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for students to observe internally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64845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64845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decisions happen automatically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788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1788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visualization for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5532120" cy="3520440"/>
          </a:xfrm>
          <a:prstGeom prst="rect">
            <a:avLst>
              <a:gd name="adj" fmla="val 1558"/>
            </a:avLst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276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YOUR PROJECT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2130552"/>
            <a:ext cx="128016" cy="128016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02996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Shell-based scheduling simulator developed in 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2587752"/>
            <a:ext cx="128016" cy="128016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48716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process information interactively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3044952"/>
            <a:ext cx="128016" cy="128016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94436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the scheduling algorithm to run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502152"/>
            <a:ext cx="128016" cy="128016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40156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is simulated step-by-step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3959352"/>
            <a:ext cx="128016" cy="128016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85876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and turnaround times are calculated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4416552"/>
            <a:ext cx="128016" cy="128016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31596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Gantt-style execution chart can be displayed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064240" cy="1005840"/>
          </a:xfrm>
          <a:prstGeom prst="rect">
            <a:avLst>
              <a:gd name="adj" fmla="val 5455"/>
            </a:avLst>
          </a:prstGeom>
          <a:solidFill>
            <a:srgbClr val="EAF7EF"/>
          </a:solidFill>
          <a:ln w="12700">
            <a:solidFill>
              <a:srgbClr val="1FAA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303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OS performs scheduling automatically, whereas our simulator allows users to observe and understand the scheduling process interactively.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7464" y="1600200"/>
            <a:ext cx="2011680" cy="777240"/>
          </a:xfrm>
          <a:prstGeom prst="rect">
            <a:avLst>
              <a:gd name="adj" fmla="val 7059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7464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9144" y="1988820"/>
            <a:ext cx="164592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13736" y="1600200"/>
            <a:ext cx="201168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13736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25416" y="1988820"/>
            <a:ext cx="164592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90008" y="1600200"/>
            <a:ext cx="201168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0008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01688" y="1988820"/>
            <a:ext cx="164592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6280" y="1600200"/>
            <a:ext cx="201168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6280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77960" y="1988820"/>
            <a:ext cx="164592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42552" y="1600200"/>
            <a:ext cx="201168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2552" y="16002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448392" y="2377440"/>
            <a:ext cx="0" cy="27432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86788" y="2651760"/>
            <a:ext cx="0" cy="914"/>
          </a:xfrm>
          <a:prstGeom prst="line">
            <a:avLst/>
          </a:prstGeom>
          <a:noFill/>
          <a:ln w="1270">
            <a:solidFill>
              <a:srgbClr val="1FAA5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928" y="2697480"/>
            <a:ext cx="2331720" cy="502920"/>
          </a:xfrm>
          <a:prstGeom prst="rect">
            <a:avLst>
              <a:gd name="adj" fmla="val 10909"/>
            </a:avLst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1020928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2828" y="2651760"/>
            <a:ext cx="0" cy="914"/>
          </a:xfrm>
          <a:prstGeom prst="line">
            <a:avLst/>
          </a:prstGeom>
          <a:noFill/>
          <a:ln w="1270">
            <a:solidFill>
              <a:srgbClr val="1FAA5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26968" y="2697480"/>
            <a:ext cx="2331720" cy="502920"/>
          </a:xfrm>
          <a:prstGeom prst="rect">
            <a:avLst>
              <a:gd name="adj" fmla="val 10909"/>
            </a:avLst>
          </a:prstGeom>
          <a:solidFill>
            <a:srgbClr val="8E44AD"/>
          </a:solidFill>
          <a:ln/>
        </p:spPr>
      </p:sp>
      <p:sp>
        <p:nvSpPr>
          <p:cNvPr id="24" name="Text 22"/>
          <p:cNvSpPr/>
          <p:nvPr/>
        </p:nvSpPr>
        <p:spPr>
          <a:xfrm>
            <a:off x="3626968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98868" y="2651760"/>
            <a:ext cx="0" cy="914"/>
          </a:xfrm>
          <a:prstGeom prst="line">
            <a:avLst/>
          </a:prstGeom>
          <a:noFill/>
          <a:ln w="1270">
            <a:solidFill>
              <a:srgbClr val="1FAA59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2697480"/>
            <a:ext cx="2331720" cy="502920"/>
          </a:xfrm>
          <a:prstGeom prst="rect">
            <a:avLst>
              <a:gd name="adj" fmla="val 10909"/>
            </a:avLst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6233008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04908" y="2651760"/>
            <a:ext cx="0" cy="914"/>
          </a:xfrm>
          <a:prstGeom prst="line">
            <a:avLst/>
          </a:prstGeom>
          <a:noFill/>
          <a:ln w="1270">
            <a:solidFill>
              <a:srgbClr val="1FAA59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39048" y="2697480"/>
            <a:ext cx="2331720" cy="502920"/>
          </a:xfrm>
          <a:prstGeom prst="rect">
            <a:avLst>
              <a:gd name="adj" fmla="val 10909"/>
            </a:avLst>
          </a:prstGeom>
          <a:solidFill>
            <a:srgbClr val="1FAA59"/>
          </a:solidFill>
          <a:ln/>
        </p:spPr>
      </p:sp>
      <p:sp>
        <p:nvSpPr>
          <p:cNvPr id="30" name="Text 28"/>
          <p:cNvSpPr/>
          <p:nvPr/>
        </p:nvSpPr>
        <p:spPr>
          <a:xfrm>
            <a:off x="8839048" y="2697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20928" y="2651760"/>
            <a:ext cx="10149840" cy="0"/>
          </a:xfrm>
          <a:prstGeom prst="line">
            <a:avLst/>
          </a:prstGeom>
          <a:noFill/>
          <a:ln w="19050">
            <a:solidFill>
              <a:srgbClr val="1FAA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5848" y="3200400"/>
            <a:ext cx="0" cy="27432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20928" y="3520440"/>
            <a:ext cx="233172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0928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52648" y="3909060"/>
            <a:ext cx="274320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626968" y="3520440"/>
            <a:ext cx="233172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6968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58688" y="3909060"/>
            <a:ext cx="274320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233008" y="3520440"/>
            <a:ext cx="2331720" cy="777240"/>
          </a:xfrm>
          <a:prstGeom prst="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3008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64728" y="3909060"/>
            <a:ext cx="274320" cy="0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839048" y="3520440"/>
            <a:ext cx="2331720" cy="777240"/>
          </a:xfrm>
          <a:prstGeom prst="rect">
            <a:avLst>
              <a:gd name="adj" fmla="val 7059"/>
            </a:avLst>
          </a:prstGeom>
          <a:solidFill>
            <a:srgbClr val="1FAA59"/>
          </a:solidFill>
          <a:ln w="12700">
            <a:solidFill>
              <a:srgbClr val="1FAA5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39048" y="35204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 can be added if implemented — the branch simply gains a fifth path.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331720"/>
          </a:xfrm>
          <a:prstGeom prst="rect">
            <a:avLst>
              <a:gd name="adj" fmla="val 235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2331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819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Interface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093976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116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423160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34086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handling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2752344"/>
            <a:ext cx="91440" cy="914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700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349240" cy="2331720"/>
          </a:xfrm>
          <a:prstGeom prst="rect">
            <a:avLst>
              <a:gd name="adj" fmla="val 235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73152" cy="2331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5819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56248" y="2093976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01168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6248" y="2423160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34086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56248" y="2752344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6700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56248" y="3081528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99923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56248" y="3410712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32841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Quantum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5349240" cy="2331720"/>
          </a:xfrm>
          <a:prstGeom prst="rect">
            <a:avLst>
              <a:gd name="adj" fmla="val 235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977640"/>
            <a:ext cx="73152" cy="23317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14223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41248" y="4654296"/>
            <a:ext cx="91440" cy="9144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57200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4983480"/>
            <a:ext cx="91440" cy="9144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490118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1248" y="5312664"/>
            <a:ext cx="91440" cy="9144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523036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1248" y="5641848"/>
            <a:ext cx="91440" cy="9144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555955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3977640"/>
            <a:ext cx="5349240" cy="2331720"/>
          </a:xfrm>
          <a:prstGeom prst="rect">
            <a:avLst>
              <a:gd name="adj" fmla="val 235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3977640"/>
            <a:ext cx="73152" cy="2331720"/>
          </a:xfrm>
          <a:prstGeom prst="rect">
            <a:avLst/>
          </a:prstGeom>
          <a:solidFill>
            <a:srgbClr val="1FAA59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414223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556248" y="4654296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57200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56248" y="4983480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490118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56248" y="5312664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523036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56248" y="5641848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5559552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56248" y="5971032"/>
            <a:ext cx="91440" cy="91440"/>
          </a:xfrm>
          <a:prstGeom prst="ellipse">
            <a:avLst/>
          </a:prstGeom>
          <a:solidFill>
            <a:srgbClr val="1FAA59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588873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Turnaround Time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Input &amp; Parsing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4709160"/>
          </a:xfrm>
          <a:prstGeom prst="rect">
            <a:avLst>
              <a:gd name="adj" fmla="val 1165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6692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number of processes: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Arrival Time: 0
  Burst Time: 5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Arrival Time: 1
  Burst Time: 3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Arrival Time: 2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Burst Time: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508760"/>
            <a:ext cx="4297680" cy="621792"/>
          </a:xfrm>
          <a:prstGeom prst="rect">
            <a:avLst>
              <a:gd name="adj" fmla="val 882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50876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464040" y="2130552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0" y="2331720"/>
            <a:ext cx="4297680" cy="621792"/>
          </a:xfrm>
          <a:prstGeom prst="rect">
            <a:avLst>
              <a:gd name="adj" fmla="val 882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3172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PROCESS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2953512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3154680"/>
            <a:ext cx="4297680" cy="621792"/>
          </a:xfrm>
          <a:prstGeom prst="rect">
            <a:avLst>
              <a:gd name="adj" fmla="val 882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15468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464040" y="3776472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3977640"/>
            <a:ext cx="4297680" cy="621792"/>
          </a:xfrm>
          <a:prstGeom prst="rect">
            <a:avLst>
              <a:gd name="adj" fmla="val 882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97764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PROCESS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64040" y="4599432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4800600"/>
            <a:ext cx="4297680" cy="621792"/>
          </a:xfrm>
          <a:prstGeom prst="rect">
            <a:avLst>
              <a:gd name="adj" fmla="val 8824"/>
            </a:avLst>
          </a:prstGeom>
          <a:solidFill>
            <a:srgbClr val="1FAA59"/>
          </a:solidFill>
          <a:ln w="12700">
            <a:solidFill>
              <a:srgbClr val="1FAA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80060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ALGORITHM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· NON-PREEMPTIVE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Come First Serve (FCFS)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3560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are executed strictly in arrival order.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965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 scheduling — no interruption once started.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0370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scheduling technique to implement.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989320" cy="2011680"/>
          </a:xfrm>
          <a:prstGeom prst="rect">
            <a:avLst>
              <a:gd name="adj" fmla="val 2273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fcfs.c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5623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fcfs(Process p[], int n) {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sortByArrival(p, n);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time = 0;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 {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(time &lt; p[i].arrival)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 = p[i].arrival;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 += p[i].burst;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p[i].completion = time;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4892040" cy="1234440"/>
          </a:xfrm>
          <a:prstGeom prst="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 AT=0  BT=5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 AT=1  BT=3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 AT=2  BT=2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2788920"/>
            <a:ext cx="4892040" cy="868680"/>
          </a:xfrm>
          <a:prstGeom prst="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8803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EXECUTION ORDER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03720" y="31272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→ P2 → P3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394960" cy="594360"/>
          </a:xfrm>
          <a:prstGeom prst="rect">
            <a:avLst>
              <a:gd name="adj" fmla="val 4615"/>
            </a:avLst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57790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5166360"/>
            <a:ext cx="3236976" cy="594360"/>
          </a:xfrm>
          <a:prstGeom prst="rect">
            <a:avLst>
              <a:gd name="adj" fmla="val 4615"/>
            </a:avLst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5166360"/>
            <a:ext cx="32369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57790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5166360"/>
            <a:ext cx="2157984" cy="594360"/>
          </a:xfrm>
          <a:prstGeom prst="rect">
            <a:avLst>
              <a:gd name="adj" fmla="val 4615"/>
            </a:avLst>
          </a:prstGeom>
          <a:solidFill>
            <a:srgbClr val="2E86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5166360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97696" y="57790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57790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· PREEMPTIVE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 (RR)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3560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scheduling using a fixed time quantum.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965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receives CPU time in rotating turns.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46304" cy="14630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0370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for time-sharing and interactive systems.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989320" cy="2560320"/>
          </a:xfrm>
          <a:prstGeom prst="rect">
            <a:avLst>
              <a:gd name="adj" fmla="val 1786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round_robin.c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07792"/>
            <a:ext cx="5623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round_robin(Process p[], int n,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int quantum) {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rem[n], time=0, done=0;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(i=0;i&lt;n;i++)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rem[i]=p[i].burst;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(done &lt; n) {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(i=0;i&lt;n;i++) {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(rem[i]==0) continue;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 = min(quantum, rem[i]);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 += s; rem[i] -= s;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ts val="1120"/>
              </a:lnSpc>
              <a:buNone/>
            </a:pPr>
            <a:r>
              <a:rPr lang="en-US" sz="9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4892040" cy="868680"/>
          </a:xfrm>
          <a:prstGeom prst="rect">
            <a:avLst>
              <a:gd name="adj" fmla="val 526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4173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QUANTUM = 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20840" y="2468880"/>
            <a:ext cx="4892040" cy="2697480"/>
          </a:xfrm>
          <a:prstGeom prst="rect">
            <a:avLst>
              <a:gd name="adj" fmla="val 2034"/>
            </a:avLst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6517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 QUANTUM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29718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quantum increases context-switch overhead, while a large quantum behaves like FCFS. Choosing the right value balances responsiveness against efficiency.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49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650992"/>
            <a:ext cx="2397760" cy="548640"/>
          </a:xfrm>
          <a:prstGeom prst="rect">
            <a:avLst>
              <a:gd name="adj" fmla="val 5000"/>
            </a:avLst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650992"/>
            <a:ext cx="239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217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46400" y="5650992"/>
            <a:ext cx="2397760" cy="548640"/>
          </a:xfrm>
          <a:prstGeom prst="rect">
            <a:avLst>
              <a:gd name="adj" fmla="val 5000"/>
            </a:avLst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6400" y="5650992"/>
            <a:ext cx="239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63520" y="6217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4160" y="5650992"/>
            <a:ext cx="2397760" cy="548640"/>
          </a:xfrm>
          <a:prstGeom prst="rect">
            <a:avLst>
              <a:gd name="adj" fmla="val 5000"/>
            </a:avLst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4160" y="5650992"/>
            <a:ext cx="239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1280" y="6217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41920" y="5650992"/>
            <a:ext cx="2397760" cy="548640"/>
          </a:xfrm>
          <a:prstGeom prst="rect">
            <a:avLst>
              <a:gd name="adj" fmla="val 5000"/>
            </a:avLst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1920" y="5650992"/>
            <a:ext cx="239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59040" y="6217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139680" y="5650992"/>
            <a:ext cx="1198880" cy="548640"/>
          </a:xfrm>
          <a:prstGeom prst="rect">
            <a:avLst>
              <a:gd name="adj" fmla="val 5000"/>
            </a:avLst>
          </a:prstGeom>
          <a:solidFill>
            <a:srgbClr val="E07B3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39680" y="5650992"/>
            <a:ext cx="119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56800" y="6217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55680" y="6217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SJF &amp; Priority Scheduling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709160"/>
          </a:xfrm>
          <a:prstGeom prst="rect">
            <a:avLst>
              <a:gd name="adj" fmla="val 1165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4709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SJF — Shortest Job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Selects the process with the shortest burst time.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Usually implemented as non-preemptive.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4892040" cy="3200400"/>
          </a:xfrm>
          <a:prstGeom prst="rect">
            <a:avLst>
              <a:gd name="adj" fmla="val 1429"/>
            </a:avLst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sjf.c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090672"/>
            <a:ext cx="4572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sjf(Process p[], int n)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done = 0, time = 0;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completed[n];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(done &lt; n)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idx = findShortest(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p, n, time,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completed);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 += p[idx].burst;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p[idx].completion = time;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completed[idx] = true;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done++;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40680" cy="4709160"/>
          </a:xfrm>
          <a:prstGeom prst="rect">
            <a:avLst>
              <a:gd name="adj" fmla="val 1165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17320"/>
            <a:ext cx="73152" cy="4709160"/>
          </a:xfrm>
          <a:prstGeom prst="rect">
            <a:avLst/>
          </a:prstGeom>
          <a:solidFill>
            <a:srgbClr val="1FAA5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Selects the process based on priority value.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Higher-priority process gets the CPU first.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743200"/>
            <a:ext cx="4892040" cy="3200400"/>
          </a:xfrm>
          <a:prstGeom prst="rect">
            <a:avLst>
              <a:gd name="adj" fmla="val 1429"/>
            </a:avLst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834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priority.c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3090672"/>
            <a:ext cx="4572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priorityScheduling(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 p[], int n) {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done = 0, time = 0;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completed[n];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(done &lt; n) {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idx = findHighestPriority(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p, n, time,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completed);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 += p[idx].burst;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p[idx].completion = time;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completed[idx] = true;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done++;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Calculations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508760"/>
            <a:ext cx="4206240" cy="566928"/>
          </a:xfrm>
          <a:prstGeom prst="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0876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075688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97280" y="2276856"/>
            <a:ext cx="4206240" cy="566928"/>
          </a:xfrm>
          <a:prstGeom prst="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7685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843784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97280" y="3044952"/>
            <a:ext cx="4206240" cy="566928"/>
          </a:xfrm>
          <a:prstGeom prst="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4495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611880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97280" y="3813048"/>
            <a:ext cx="4206240" cy="566928"/>
          </a:xfrm>
          <a:prstGeom prst="rect">
            <a:avLst>
              <a:gd name="adj" fmla="val 9677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81304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4379976"/>
            <a:ext cx="0" cy="201168"/>
          </a:xfrm>
          <a:prstGeom prst="line">
            <a:avLst/>
          </a:prstGeom>
          <a:noFill/>
          <a:ln w="25400">
            <a:solidFill>
              <a:srgbClr val="1FAA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97280" y="4581144"/>
            <a:ext cx="4206240" cy="566928"/>
          </a:xfrm>
          <a:prstGeom prst="rect">
            <a:avLst>
              <a:gd name="adj" fmla="val 9677"/>
            </a:avLst>
          </a:prstGeom>
          <a:solidFill>
            <a:srgbClr val="1FAA59"/>
          </a:solidFill>
          <a:ln w="12700">
            <a:solidFill>
              <a:srgbClr val="1FAA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58114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Turnaround Time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1508760"/>
            <a:ext cx="5120640" cy="2103120"/>
          </a:xfrm>
          <a:prstGeom prst="rect">
            <a:avLst>
              <a:gd name="adj" fmla="val 2609"/>
            </a:avLst>
          </a:prstGeom>
          <a:solidFill>
            <a:srgbClr val="16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691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A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2057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Turnaround Time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Completion Time − Arrival Time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 Time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7D0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Turnaround Time − Burst 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840480"/>
            <a:ext cx="5120640" cy="2286000"/>
          </a:xfrm>
          <a:prstGeom prst="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0233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METRICS MATTER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3434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quantify how efficiently the CPU is shared among processes, and let us compare FCFS, SJF, Round Robin, and Priority scheduling on equal footing.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709160"/>
          </a:xfrm>
          <a:prstGeom prst="rect">
            <a:avLst>
              <a:gd name="adj" fmla="val 1165"/>
            </a:avLst>
          </a:prstGeom>
          <a:solidFill>
            <a:srgbClr val="0F1B2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ect">
            <a:avLst>
              <a:gd name="adj" fmla="val 15000"/>
            </a:avLst>
          </a:prstGeom>
          <a:solidFill>
            <a:srgbClr val="0A152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36192"/>
            <a:ext cx="128016" cy="128016"/>
          </a:xfrm>
          <a:prstGeom prst="ellipse">
            <a:avLst/>
          </a:prstGeom>
          <a:solidFill>
            <a:srgbClr val="E15554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1536192"/>
            <a:ext cx="128016" cy="128016"/>
          </a:xfrm>
          <a:prstGeom prst="ellipse">
            <a:avLst/>
          </a:prstGeom>
          <a:solidFill>
            <a:srgbClr val="E0A030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1536192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463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scheduler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104241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./scheduler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PROCESS SCHEDULING SIMULATOR =====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FCFS
2. SJF
3. ROUND ROBIN
4. PRIORITY
5. EXIT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9AB4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	AT	BT	CT	TAT	WT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	0	5	5	5	0
P2	1	3	8	7	4
P3	2	2	10	8	6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Waiting Time    = 3.33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Turnaround Time = 6.67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Code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548640"/>
          </a:xfrm>
          <a:prstGeom prst="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20440" cy="548640"/>
          </a:xfrm>
          <a:prstGeom prst="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463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scheduler.h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1463040"/>
            <a:ext cx="3520440" cy="548640"/>
          </a:xfrm>
          <a:prstGeom prst="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4630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fcfs.c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3520440" cy="548640"/>
          </a:xfrm>
          <a:prstGeom prst="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sjf.c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3520440" cy="548640"/>
          </a:xfrm>
          <a:prstGeom prst="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240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round_robin.c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240280"/>
            <a:ext cx="3520440" cy="548640"/>
          </a:xfrm>
          <a:prstGeom prst="rect">
            <a:avLst>
              <a:gd name="adj" fmla="val 8333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240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  </a:t>
            </a:r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priority.c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1064240" cy="2651760"/>
          </a:xfrm>
          <a:prstGeom prst="rect">
            <a:avLst>
              <a:gd name="adj" fmla="val 2069"/>
            </a:avLst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204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fcfs(Process p[], int n);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39044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sjf(Process p[], int n);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2885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round_robin(Process p[], int n, int quantum);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467258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priorityScheduling(Process p[], int n);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505663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calculateMetrics(Process p[], int n);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44068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printGanttChart(Process p[], int n);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2026-08-21T05:12:33Z</dcterms:created>
  <dcterms:modified xsi:type="dcterms:W3CDTF">2026-08-21T05:12:33Z</dcterms:modified>
</cp:coreProperties>
</file>